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8769-E71C-29CF-9AC7-418AE5C02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7B739-A9FC-14B8-A107-67F448A62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0946E-9379-E793-961C-25C003338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E5CB2-6052-0FCC-6F3D-9DE32A05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1BA80-44F6-FCD2-1E03-D996A974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46EA-FF2F-6455-5074-9691C205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3B113-117F-A544-68F4-D752A83DB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BBBC-D8CE-BD97-A1FC-B7169142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47969-8C23-E2B2-436E-721CE079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EFB93-2536-BD97-D525-F1A993DB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9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ED79-DBEF-6A08-AF6B-F09E0ED8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C5001-7957-D3BD-FC5A-8E7596DCD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FB21E-5245-6D8C-21F4-2B7942D6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6096-E3C4-1E3E-D632-F71C92A3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B4B22-8F25-26DE-1AFD-C9092B0D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3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C7859-23B9-A6C9-0E38-280DEDAF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D0F3-72AF-6FA6-35A2-96CD9C7DE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4E338-0DD9-5BD9-9928-981D39FD9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B6641-3FE7-51FE-89BF-F51D4955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45C6D-AD60-D7D5-0297-0EC5C9D4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A4EC5-B57B-1A0D-1CD1-CE3AABBF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7797-178D-5F29-DB5D-30C90834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B7E84-7893-A987-B8A2-46629F0A8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6A255-6204-64A3-FF42-E644335F9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BD91BA-86C9-BEC7-A72C-5A9E0C1AC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912EF-31CD-3E37-1405-9936E66FA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DC21E-65F6-4F1C-4AF1-252F37912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FE3B2-5F77-05FF-8D46-A8477914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AB300-7645-C8B5-C1AF-9B9E07C3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49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168E-515C-C9AB-27AE-4B53C80B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4E786-B2F0-6FA2-E689-FBAACB36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8487B-8515-F4C6-52CE-74B234B4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7D79C-18AE-732F-F6CE-934326D1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5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5AC62-E651-3382-DA5E-1AB92A12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0B58D-4E59-312D-2324-015CEB09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33F0E-CD06-AF7B-664B-BDC4364C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8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F15B-1454-B79F-E0C2-8E6D0C40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CBB8F-2E93-00E1-A267-E4CB47202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0589-BD7B-4B34-7D03-1974375B5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231C4-4CD0-B2BB-8CB1-0BBD432EE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55289-9056-876F-9CCA-CD84556C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9A5B5-D4B2-604E-A614-8C6EF817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7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73B5-CE3C-D3CF-67B6-FBE47D59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AFF76D-1AC9-9C6F-A1F4-C73A7A4D4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0FB-5EC6-F847-7118-94C649408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ADFD2-72A8-5618-6DBA-BB13D2A5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F1A88-040B-1536-67B7-54C27BC5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54070-2A01-3FA7-EE57-165C6221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9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9989-6B84-0EC3-E711-376E5395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BDDA1-2053-764A-3982-DED8F17FC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6F01-2590-91A8-B6AA-A6F7D713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715E-0AED-F186-E9AC-85BBCE57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7CAD-B115-5B1D-3EB3-4C0B55D1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FFD6F-078D-39CE-B238-0D5BE89AD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212ED-41BE-5396-1955-17DBEED36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D68BD-59E2-6327-2924-1A194E96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13B50-6CAE-9984-DCB1-1B321A55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557A-D899-EA1C-ACF7-CFB120A9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1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8D026B-DE93-283D-3BD7-BB7ADE97A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15897-ED3C-1E59-F7B8-0E3C82F6D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91DB8-B888-B68F-D99D-DB510A256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6705D-EDEF-42AE-987B-7C22CEBCAE4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2849-BAAF-26F8-8DF9-B690E76CB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DBD99-1651-5D7B-F793-A5B3CC94B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8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7C680-62CC-5085-8886-4D6FE47E3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9617" y="833377"/>
            <a:ext cx="8359019" cy="849057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Credit Card Fraud Detection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07DC3-6899-B2F5-1C68-A86230D59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4989" y="1757047"/>
            <a:ext cx="6051236" cy="2479287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EAS 345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Dan Caverly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Matthew Drummond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Michael Hicks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Sean Stack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black sign with white text&#10;&#10;AI-generated content may be incorrect.">
            <a:extLst>
              <a:ext uri="{FF2B5EF4-FFF2-40B4-BE49-F238E27FC236}">
                <a16:creationId xmlns:a16="http://schemas.microsoft.com/office/drawing/2014/main" id="{F3855C30-219A-F73B-5C71-B47A34B83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95" y="4600568"/>
            <a:ext cx="4876801" cy="185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23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558416-D3E2-52F3-9DFC-6FBBC3B4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Addressing the Project Sponsor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3DABB4-45CC-E486-F939-941705FB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Motivation and Business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DD95B-EF0D-48DD-0308-E40EDD683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Business Need: Financial organizations need to reduce financial losses while minimizing disruption to legitimate customers</a:t>
            </a:r>
          </a:p>
          <a:p>
            <a:r>
              <a:rPr lang="en-US" sz="2000"/>
              <a:t>Key Pain Point: Fraud detection systems were producing a high false positive rate, resulting in unnecessary manual reviews and customer friction</a:t>
            </a:r>
          </a:p>
          <a:p>
            <a:r>
              <a:rPr lang="en-US" sz="2000"/>
              <a:t>Motivation: Improve the accuracy of fraud detection so that fewer legitimate transactions are flagged while still catching fraudulent activity earlier</a:t>
            </a:r>
          </a:p>
          <a:p>
            <a:r>
              <a:rPr lang="en-US" sz="2000"/>
              <a:t>Project Sponsor: Dr. Sabato, Intro to Data Science professor, overseeing the initiative</a:t>
            </a:r>
          </a:p>
        </p:txBody>
      </p:sp>
    </p:spTree>
    <p:extLst>
      <p:ext uri="{BB962C8B-B14F-4D97-AF65-F5344CB8AC3E}">
        <p14:creationId xmlns:p14="http://schemas.microsoft.com/office/powerpoint/2010/main" val="273277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B6845-D11C-4C8B-9A5B-F51F49CA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E537-AD36-2CB2-D200-3F1250C18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The overall goal of the project was to build a machine learning model that accurately predicts fraud to reduce false positives and financial loss</a:t>
            </a:r>
          </a:p>
          <a:p>
            <a:r>
              <a:rPr lang="en-US" sz="2000" dirty="0"/>
              <a:t>Target Improvements:</a:t>
            </a:r>
          </a:p>
          <a:p>
            <a:pPr lvl="1"/>
            <a:r>
              <a:rPr lang="en-US" sz="2000" dirty="0"/>
              <a:t>Recall &gt; 85% (catch more actual fraud)</a:t>
            </a:r>
          </a:p>
          <a:p>
            <a:pPr lvl="1"/>
            <a:r>
              <a:rPr lang="en-US" sz="2000" dirty="0"/>
              <a:t>Precision &gt; 90% (minimize false positives and reduce manual review load)</a:t>
            </a:r>
          </a:p>
          <a:p>
            <a:r>
              <a:rPr lang="en-US" sz="2000" dirty="0"/>
              <a:t>These accuracy goals directly support the sponsor’s priority: Fewer false alarms leads to fewer interruptions to legitimate customers, leading to lower operational costs</a:t>
            </a:r>
          </a:p>
        </p:txBody>
      </p:sp>
    </p:spTree>
    <p:extLst>
      <p:ext uri="{BB962C8B-B14F-4D97-AF65-F5344CB8AC3E}">
        <p14:creationId xmlns:p14="http://schemas.microsoft.com/office/powerpoint/2010/main" val="251085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22FC5-20CD-1789-134F-45C59BB1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7F59-4DAC-7027-40FA-F59DC3630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Model Used: XGBoost, selected for its strong performance on structured fraud data</a:t>
            </a:r>
          </a:p>
          <a:p>
            <a:r>
              <a:rPr lang="en-US" sz="2000"/>
              <a:t>Performance Summary</a:t>
            </a:r>
          </a:p>
          <a:p>
            <a:pPr lvl="1"/>
            <a:r>
              <a:rPr lang="en-US" sz="2000"/>
              <a:t>Zero False Positives: No legitimate customers were incorrectly flagged</a:t>
            </a:r>
          </a:p>
          <a:p>
            <a:pPr lvl="1"/>
            <a:r>
              <a:rPr lang="en-US" sz="2000"/>
              <a:t>Model caught 99.97% of all fraud cases</a:t>
            </a:r>
          </a:p>
          <a:p>
            <a:r>
              <a:rPr lang="en-US" sz="2000"/>
              <a:t>The model dramatically reduces customer friction while greatly improving fraud detection accuracy</a:t>
            </a:r>
          </a:p>
        </p:txBody>
      </p:sp>
    </p:spTree>
    <p:extLst>
      <p:ext uri="{BB962C8B-B14F-4D97-AF65-F5344CB8AC3E}">
        <p14:creationId xmlns:p14="http://schemas.microsoft.com/office/powerpoint/2010/main" val="4190093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043D4-B7C8-82A2-BA6D-A71B5159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Workflow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C6C71-76A2-8CDB-8FEC-278C9457B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900" dirty="0"/>
              <a:t>Preprocessing Stage</a:t>
            </a:r>
          </a:p>
          <a:p>
            <a:pPr lvl="1"/>
            <a:r>
              <a:rPr lang="en-US" sz="1900" dirty="0"/>
              <a:t>Data cleaning</a:t>
            </a:r>
          </a:p>
          <a:p>
            <a:pPr lvl="1"/>
            <a:r>
              <a:rPr lang="en-US" sz="1900" dirty="0"/>
              <a:t>Missing value imputation</a:t>
            </a:r>
          </a:p>
          <a:p>
            <a:pPr lvl="1"/>
            <a:r>
              <a:rPr lang="en-US" sz="1900" dirty="0"/>
              <a:t>Feature engineering</a:t>
            </a:r>
          </a:p>
          <a:p>
            <a:pPr lvl="1"/>
            <a:r>
              <a:rPr lang="en-US" sz="1900" dirty="0"/>
              <a:t>Feature selection</a:t>
            </a:r>
          </a:p>
          <a:p>
            <a:r>
              <a:rPr lang="en-US" sz="1900" dirty="0"/>
              <a:t>Model Development</a:t>
            </a:r>
          </a:p>
          <a:p>
            <a:pPr lvl="1"/>
            <a:r>
              <a:rPr lang="en-US" sz="1900" dirty="0"/>
              <a:t>Trained </a:t>
            </a:r>
            <a:r>
              <a:rPr lang="en-US" sz="1900"/>
              <a:t>XGBoost</a:t>
            </a:r>
            <a:r>
              <a:rPr lang="en-US" sz="1900" dirty="0"/>
              <a:t> model on engineered features</a:t>
            </a:r>
          </a:p>
          <a:p>
            <a:pPr lvl="1"/>
            <a:r>
              <a:rPr lang="en-US" sz="1900" dirty="0"/>
              <a:t>Tuned using validation set</a:t>
            </a:r>
          </a:p>
          <a:p>
            <a:pPr lvl="1"/>
            <a:r>
              <a:rPr lang="en-US" sz="1900" dirty="0"/>
              <a:t>Final evaluation on an unseen test set</a:t>
            </a:r>
          </a:p>
          <a:p>
            <a:r>
              <a:rPr lang="en-US" sz="1900" dirty="0"/>
              <a:t>Dataset Size</a:t>
            </a:r>
          </a:p>
          <a:p>
            <a:pPr lvl="1"/>
            <a:r>
              <a:rPr lang="en-US" sz="1900" dirty="0"/>
              <a:t>Train Set: 413,378 rows x 331 features</a:t>
            </a:r>
          </a:p>
          <a:p>
            <a:pPr lvl="1"/>
            <a:r>
              <a:rPr lang="en-US" sz="1900" dirty="0"/>
              <a:t>Validation Set: 88,581 rows x 331 features</a:t>
            </a:r>
          </a:p>
          <a:p>
            <a:pPr lvl="1"/>
            <a:r>
              <a:rPr lang="en-US" sz="1900" dirty="0"/>
              <a:t>Test Set: 88,581 rows x 331 features</a:t>
            </a:r>
          </a:p>
          <a:p>
            <a:r>
              <a:rPr lang="en-US" sz="1900" dirty="0"/>
              <a:t>Tools Used</a:t>
            </a:r>
          </a:p>
          <a:p>
            <a:pPr lvl="1"/>
            <a:r>
              <a:rPr lang="en-US" sz="1900" dirty="0"/>
              <a:t>R, </a:t>
            </a:r>
            <a:r>
              <a:rPr lang="en-US" sz="1900"/>
              <a:t>Rstudio</a:t>
            </a:r>
            <a:r>
              <a:rPr lang="en-US" sz="1900" dirty="0"/>
              <a:t>, </a:t>
            </a:r>
            <a:r>
              <a:rPr lang="en-US" sz="1900"/>
              <a:t>XGBoost</a:t>
            </a:r>
            <a:r>
              <a:rPr lang="en-US" sz="1900" dirty="0"/>
              <a:t> Package, GitHub, and RDS conversion to store large datasets efficiently</a:t>
            </a:r>
          </a:p>
          <a:p>
            <a:pPr lvl="1"/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71080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5395F-8D8F-23C1-D7B1-D417A373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85721-2F8D-FD14-5E21-FCFE8FF15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Zero False Positives lead to a better customer experience</a:t>
            </a:r>
          </a:p>
          <a:p>
            <a:pPr lvl="1"/>
            <a:r>
              <a:rPr lang="en-US" sz="2000"/>
              <a:t>Legitimate customers are no longer interrupted</a:t>
            </a:r>
          </a:p>
          <a:p>
            <a:pPr lvl="1"/>
            <a:r>
              <a:rPr lang="en-US" sz="2000"/>
              <a:t>Smoother transactions and fewer complaints</a:t>
            </a:r>
          </a:p>
          <a:p>
            <a:r>
              <a:rPr lang="en-US" sz="2000"/>
              <a:t>99.97% Fraud detection means strong protection</a:t>
            </a:r>
          </a:p>
          <a:p>
            <a:pPr lvl="1"/>
            <a:r>
              <a:rPr lang="en-US" sz="2000"/>
              <a:t>Major reduction in financial losses</a:t>
            </a:r>
          </a:p>
          <a:p>
            <a:pPr lvl="1"/>
            <a:r>
              <a:rPr lang="en-US" sz="2000"/>
              <a:t>Earlier and more reliable fraud prevention</a:t>
            </a:r>
          </a:p>
          <a:p>
            <a:r>
              <a:rPr lang="en-US" sz="2000"/>
              <a:t>This project provides immediate benefit</a:t>
            </a:r>
          </a:p>
          <a:p>
            <a:pPr lvl="1"/>
            <a:r>
              <a:rPr lang="en-US" sz="2000"/>
              <a:t>Manual review workload drops significantly, freeing staff to focus on the most critical cases</a:t>
            </a:r>
          </a:p>
        </p:txBody>
      </p:sp>
    </p:spTree>
    <p:extLst>
      <p:ext uri="{BB962C8B-B14F-4D97-AF65-F5344CB8AC3E}">
        <p14:creationId xmlns:p14="http://schemas.microsoft.com/office/powerpoint/2010/main" val="113541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4DC57-A2D6-B68B-B13A-582D9952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4509-891A-A252-C8F6-492FF7BF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The model caught 99.7% of all fraud cases, demonstrating highly reliable detection</a:t>
            </a:r>
          </a:p>
          <a:p>
            <a:r>
              <a:rPr lang="en-US" sz="2000"/>
              <a:t>Legitimate transactions are not incorrectly flagged, ensuring smooth customer experience</a:t>
            </a:r>
          </a:p>
          <a:p>
            <a:r>
              <a:rPr lang="en-US" sz="2000"/>
              <a:t>The model performs better than previous processes in accuracy and consistency, reducing manual review workload</a:t>
            </a:r>
          </a:p>
          <a:p>
            <a:r>
              <a:rPr lang="en-US" sz="2000"/>
              <a:t>The model works reliably in real-world scenarios, protecting the business while minimizing customer disruption</a:t>
            </a:r>
          </a:p>
        </p:txBody>
      </p:sp>
    </p:spTree>
    <p:extLst>
      <p:ext uri="{BB962C8B-B14F-4D97-AF65-F5344CB8AC3E}">
        <p14:creationId xmlns:p14="http://schemas.microsoft.com/office/powerpoint/2010/main" val="321552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BFFEA-C534-0AA4-130C-F9E949BF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Modeling Method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D4C8-D0D0-1291-CBB0-09B5633BB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XGBoost was the chosen model because prior research and literature show that XGBoost performs well on fraud detection tasks</a:t>
            </a:r>
          </a:p>
          <a:p>
            <a:r>
              <a:rPr lang="en-US" sz="2000"/>
              <a:t>The model uses patterns in historical data to make highly accurate predictions on new transactions</a:t>
            </a:r>
          </a:p>
        </p:txBody>
      </p:sp>
    </p:spTree>
    <p:extLst>
      <p:ext uri="{BB962C8B-B14F-4D97-AF65-F5344CB8AC3E}">
        <p14:creationId xmlns:p14="http://schemas.microsoft.com/office/powerpoint/2010/main" val="19313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7333-BC07-5341-3AFF-197800AC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</a:rPr>
              <a:t>Recommendation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CABA2-1F0D-EBFC-A5C6-16AC25AC9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Recommendation: Deploy the model in the fraud detection workflow to immediately reduce manual reviews and financial losses.</a:t>
            </a:r>
          </a:p>
          <a:p>
            <a:r>
              <a:rPr lang="en-US" sz="2000"/>
              <a:t>Outstanding Issue: Model Interpretability. Understanding why the model makes a prediction is still challenging and should be improved for transparency and trust</a:t>
            </a:r>
          </a:p>
          <a:p>
            <a:r>
              <a:rPr lang="en-US" sz="2000"/>
              <a:t>In the future, expanded feature selection tasks should be done to identify the most informative variables and potentially improve performance even further</a:t>
            </a:r>
          </a:p>
        </p:txBody>
      </p:sp>
    </p:spTree>
    <p:extLst>
      <p:ext uri="{BB962C8B-B14F-4D97-AF65-F5344CB8AC3E}">
        <p14:creationId xmlns:p14="http://schemas.microsoft.com/office/powerpoint/2010/main" val="163513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6F84C-3016-C10D-293B-9F7E0DA4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787278-ED66-D79E-1165-0F273E22F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00A1F2-F585-8867-0689-EA790A668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B5A2EE-E535-C63B-D72D-66D3B2FED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DE9FEC-76BD-623D-87D9-DB7F604C7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774CBA-5A90-14B0-A4B7-D60CD0CB7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F888A-3243-FBB8-B754-4C635133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F4D3B67-FEBA-489C-1FE2-6AAEBDD3A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7D094A-A0E8-E71A-AEF8-F292A396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Addressing the End User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234490-9D1D-1D47-25D0-5CC830F24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8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762CD-5375-B23C-B34A-3D129353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This Model Matters to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29CE1-7850-B3AB-0C2B-A63935266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End Users: Bank employees responsible for fraud review and customer transaction monitoring.</a:t>
            </a:r>
          </a:p>
          <a:p>
            <a:r>
              <a:rPr lang="en-US" sz="2000"/>
              <a:t>Too many false positives leads to constant review of transactions that turn out to be legitimate</a:t>
            </a:r>
          </a:p>
          <a:p>
            <a:r>
              <a:rPr lang="en-US" sz="2000"/>
              <a:t>From the end users perspective, the project goal was to build a model that reduces false positives and prioritizes the transactions that truly need your attention</a:t>
            </a:r>
          </a:p>
          <a:p>
            <a:r>
              <a:rPr lang="en-US" sz="2000"/>
              <a:t>Our model has less noise, more accuracy, and provides more time to focus on genuine fraud cases</a:t>
            </a:r>
          </a:p>
        </p:txBody>
      </p:sp>
    </p:spTree>
    <p:extLst>
      <p:ext uri="{BB962C8B-B14F-4D97-AF65-F5344CB8AC3E}">
        <p14:creationId xmlns:p14="http://schemas.microsoft.com/office/powerpoint/2010/main" val="402205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DC6E9-8DB7-2B1C-C712-799B88E8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 in Day-to-Day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A672-527C-602A-0334-B7BFB127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Prior to the Model</a:t>
            </a:r>
          </a:p>
          <a:p>
            <a:pPr lvl="1"/>
            <a:r>
              <a:rPr lang="en-US" sz="2000"/>
              <a:t>Rule based system</a:t>
            </a:r>
          </a:p>
          <a:p>
            <a:pPr lvl="1"/>
            <a:r>
              <a:rPr lang="en-US" sz="2000"/>
              <a:t>Many alerts triggered by simple heuristics</a:t>
            </a:r>
          </a:p>
          <a:p>
            <a:pPr lvl="1"/>
            <a:r>
              <a:rPr lang="en-US" sz="2000"/>
              <a:t>Heavy manual review</a:t>
            </a:r>
          </a:p>
          <a:p>
            <a:pPr lvl="1"/>
            <a:r>
              <a:rPr lang="en-US" sz="2000"/>
              <a:t>Most flagged transactions turned out to be legitimate</a:t>
            </a:r>
          </a:p>
          <a:p>
            <a:r>
              <a:rPr lang="en-US" sz="2000"/>
              <a:t>After the Model</a:t>
            </a:r>
          </a:p>
          <a:p>
            <a:pPr lvl="1"/>
            <a:r>
              <a:rPr lang="en-US" sz="2000"/>
              <a:t>Only high-risk transactions are flagged</a:t>
            </a:r>
          </a:p>
          <a:p>
            <a:pPr lvl="1"/>
            <a:r>
              <a:rPr lang="en-US" sz="2000"/>
              <a:t>Far fewer alerts to sift through</a:t>
            </a:r>
          </a:p>
          <a:p>
            <a:pPr lvl="1"/>
            <a:r>
              <a:rPr lang="en-US" sz="2000"/>
              <a:t>Alerts are backed by a powerful predictive model</a:t>
            </a:r>
          </a:p>
          <a:p>
            <a:r>
              <a:rPr lang="en-US" sz="2000"/>
              <a:t>More accurate alerts lead to faster decisions, less wasted time, and more focus on real fraud</a:t>
            </a:r>
          </a:p>
        </p:txBody>
      </p:sp>
    </p:spTree>
    <p:extLst>
      <p:ext uri="{BB962C8B-B14F-4D97-AF65-F5344CB8AC3E}">
        <p14:creationId xmlns:p14="http://schemas.microsoft.com/office/powerpoint/2010/main" val="154075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6BF-CD69-15EC-BFF1-90B947F2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the Model Catches – And What It Ignores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8D562-425B-BD8C-E326-8C4D3A0DB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Fraud Pattern the Model Flags:</a:t>
            </a:r>
          </a:p>
          <a:p>
            <a:pPr lvl="1"/>
            <a:r>
              <a:rPr lang="en-US" sz="2000"/>
              <a:t>Overseas transactions that are unusual for the customer</a:t>
            </a:r>
          </a:p>
          <a:p>
            <a:pPr lvl="1"/>
            <a:r>
              <a:rPr lang="en-US" sz="2000"/>
              <a:t>Helps end users quickly spot high-risk activity that often indicates compromised cards</a:t>
            </a:r>
          </a:p>
          <a:p>
            <a:r>
              <a:rPr lang="en-US" sz="2000"/>
              <a:t>Legitimate Pattern the Model Avoids Flagging</a:t>
            </a:r>
          </a:p>
          <a:p>
            <a:pPr lvl="1"/>
            <a:r>
              <a:rPr lang="en-US" sz="2000"/>
              <a:t>Small local purchases, which are typically part of normal customer behavior</a:t>
            </a:r>
          </a:p>
          <a:p>
            <a:pPr lvl="1"/>
            <a:r>
              <a:rPr lang="en-US" sz="2000"/>
              <a:t>Reduces unnecessary alerts and customer inconvenience</a:t>
            </a:r>
          </a:p>
          <a:p>
            <a:r>
              <a:rPr lang="en-US" sz="2000"/>
              <a:t>Input End Users Care About Most</a:t>
            </a:r>
          </a:p>
          <a:p>
            <a:pPr lvl="1"/>
            <a:r>
              <a:rPr lang="en-US" sz="2000"/>
              <a:t>Location. This aligns with the factors employees already use when manually evaluating transactions.</a:t>
            </a:r>
          </a:p>
        </p:txBody>
      </p:sp>
    </p:spTree>
    <p:extLst>
      <p:ext uri="{BB962C8B-B14F-4D97-AF65-F5344CB8AC3E}">
        <p14:creationId xmlns:p14="http://schemas.microsoft.com/office/powerpoint/2010/main" val="966483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BA607-DFF2-48C1-8F8F-9D51B042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How You Interact With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0C3DF-34C2-EF80-453A-F517C688D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You use the model through an alert system that notifies you only when a transaction is considered high risk.</a:t>
            </a:r>
          </a:p>
          <a:p>
            <a:r>
              <a:rPr lang="en-US" sz="2000"/>
              <a:t>The model provides a clear fraud / not fraud label for each evaluated transaction.</a:t>
            </a:r>
          </a:p>
          <a:p>
            <a:r>
              <a:rPr lang="en-US" sz="2000"/>
              <a:t>The script would output a list of flagged transactions, including relevant details such as amount, time, and location.</a:t>
            </a:r>
          </a:p>
        </p:txBody>
      </p:sp>
    </p:spTree>
    <p:extLst>
      <p:ext uri="{BB962C8B-B14F-4D97-AF65-F5344CB8AC3E}">
        <p14:creationId xmlns:p14="http://schemas.microsoft.com/office/powerpoint/2010/main" val="163642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FC602-A099-0545-518F-C823C967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Your Role in Improving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3406-1ED4-12FD-A216-E2FC773FC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We ask that you report unusual fraud patterns that you detect manually that the model may not yet recognize</a:t>
            </a:r>
          </a:p>
          <a:p>
            <a:r>
              <a:rPr lang="en-US" sz="2000"/>
              <a:t>Simply send an email whenever you notice a suspicious pattern or a case the model misclassified.</a:t>
            </a:r>
          </a:p>
          <a:p>
            <a:r>
              <a:rPr lang="en-US" sz="2000"/>
              <a:t>Your insights help the model learn emerging fraud behaviors.</a:t>
            </a:r>
          </a:p>
          <a:p>
            <a:r>
              <a:rPr lang="en-US" sz="2000"/>
              <a:t>Continuous improvement strengthens fraud prevention and reduces your workload over time.</a:t>
            </a:r>
          </a:p>
        </p:txBody>
      </p:sp>
    </p:spTree>
    <p:extLst>
      <p:ext uri="{BB962C8B-B14F-4D97-AF65-F5344CB8AC3E}">
        <p14:creationId xmlns:p14="http://schemas.microsoft.com/office/powerpoint/2010/main" val="3885479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E0F30-34C2-F24F-A521-311F202F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2571B8-BCD5-BC71-F711-B48809388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B31446-B11A-E06A-14B9-18E5237E3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F35A26-9B04-BA5F-1F8C-CA54C2FBB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5A9044-4BA4-10D2-9BBF-41955F0E1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FE9E8B-F728-D544-7D61-8F8057978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90A8B0-2C01-6E5B-3A2B-172F7CEAC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0D3436B-DAD7-3ED3-941A-0E00714D9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F9CB51-2AD5-7D1B-DAB7-4278734B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Addressing </a:t>
            </a:r>
            <a:r>
              <a:rPr lang="en-US" sz="4800" dirty="0">
                <a:solidFill>
                  <a:srgbClr val="FFFFFF"/>
                </a:solidFill>
              </a:rPr>
              <a:t>Other Data Scientists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5EE9D-6BE6-4502-23ED-01782F1EB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76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3C70C-75D1-6642-8DC4-8D4D1C89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Problem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6F5A9-458B-6FA4-FA42-A0ACC660D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Problem Type: Binary classification of fraudulent transactions using tabular data (IEEE-CIS Fraud Detection Dataset).</a:t>
            </a:r>
          </a:p>
          <a:p>
            <a:r>
              <a:rPr lang="en-US" sz="2000"/>
              <a:t>Technical Challenges</a:t>
            </a:r>
          </a:p>
          <a:p>
            <a:pPr lvl="1"/>
            <a:r>
              <a:rPr lang="en-US" sz="2000"/>
              <a:t>Extreme class imbalance – very few fraud cases compared to legitimate transactions</a:t>
            </a:r>
          </a:p>
          <a:p>
            <a:pPr lvl="1"/>
            <a:r>
              <a:rPr lang="en-US" sz="2000"/>
              <a:t>Noisy features – some features contain irrelevant or inconsistent information</a:t>
            </a:r>
          </a:p>
          <a:p>
            <a:pPr lvl="1"/>
            <a:r>
              <a:rPr lang="en-US" sz="2000"/>
              <a:t>High dimensionality – 331 features, increasing risk of overfitting and complicating feature selection</a:t>
            </a:r>
          </a:p>
          <a:p>
            <a:r>
              <a:rPr lang="en-US" sz="2000"/>
              <a:t>Objective: Develop a robust model that accurately identifies fraud while handling these challenges.</a:t>
            </a:r>
          </a:p>
        </p:txBody>
      </p:sp>
    </p:spTree>
    <p:extLst>
      <p:ext uri="{BB962C8B-B14F-4D97-AF65-F5344CB8AC3E}">
        <p14:creationId xmlns:p14="http://schemas.microsoft.com/office/powerpoint/2010/main" val="2523108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CDAF0-A004-2E30-633E-35C09E7F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Previous Approaches in Fraud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8DBD-0962-490C-B263-7053E04FD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Common Approaches in Literature</a:t>
            </a:r>
          </a:p>
          <a:p>
            <a:pPr lvl="1"/>
            <a:r>
              <a:rPr lang="en-US" sz="2000" dirty="0"/>
              <a:t>Rule based systems – simple heuristics for flagging suspicious transactions</a:t>
            </a:r>
          </a:p>
          <a:p>
            <a:pPr lvl="1"/>
            <a:r>
              <a:rPr lang="en-US" sz="2000" dirty="0"/>
              <a:t>Machine learning models</a:t>
            </a:r>
          </a:p>
          <a:p>
            <a:pPr lvl="2"/>
            <a:r>
              <a:rPr lang="en-US"/>
              <a:t>LighGBM</a:t>
            </a:r>
            <a:endParaRPr lang="en-US" dirty="0"/>
          </a:p>
          <a:p>
            <a:pPr lvl="2"/>
            <a:r>
              <a:rPr lang="en-US" dirty="0"/>
              <a:t>Random Forest</a:t>
            </a:r>
          </a:p>
          <a:p>
            <a:pPr lvl="2"/>
            <a:r>
              <a:rPr lang="en-US"/>
              <a:t>XGBoost</a:t>
            </a:r>
            <a:endParaRPr lang="en-US" dirty="0"/>
          </a:p>
          <a:p>
            <a:r>
              <a:rPr lang="en-US" sz="2000" dirty="0"/>
              <a:t>How Our Approach Differs</a:t>
            </a:r>
          </a:p>
          <a:p>
            <a:pPr lvl="1"/>
            <a:r>
              <a:rPr lang="en-US" sz="2000" dirty="0"/>
              <a:t>Implemented a superior preprocessing pipeline</a:t>
            </a:r>
          </a:p>
          <a:p>
            <a:pPr lvl="2"/>
            <a:r>
              <a:rPr lang="en-US" dirty="0"/>
              <a:t>More effective handling of missing values</a:t>
            </a:r>
          </a:p>
          <a:p>
            <a:pPr lvl="2"/>
            <a:r>
              <a:rPr lang="en-US" dirty="0"/>
              <a:t>Feature engineering and selection tailored for this dataset</a:t>
            </a:r>
          </a:p>
          <a:p>
            <a:r>
              <a:rPr lang="en-US" sz="2000" dirty="0"/>
              <a:t>Takeaway</a:t>
            </a:r>
          </a:p>
          <a:p>
            <a:pPr lvl="1"/>
            <a:r>
              <a:rPr lang="en-US" sz="2000" dirty="0"/>
              <a:t>While the model choice (</a:t>
            </a:r>
            <a:r>
              <a:rPr lang="en-US" sz="2000"/>
              <a:t>XGBoost</a:t>
            </a:r>
            <a:r>
              <a:rPr lang="en-US" sz="2000" dirty="0"/>
              <a:t>) aligns with prior work, our data preparation and feature handling provide a competitive advantage.</a:t>
            </a:r>
          </a:p>
        </p:txBody>
      </p:sp>
    </p:spTree>
    <p:extLst>
      <p:ext uri="{BB962C8B-B14F-4D97-AF65-F5344CB8AC3E}">
        <p14:creationId xmlns:p14="http://schemas.microsoft.com/office/powerpoint/2010/main" val="874211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1CED7-F604-F83B-3769-04F712DA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Preprocessing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5EC8-A0F2-2E63-84A1-D15D3F280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Step 1: Data Integration</a:t>
            </a:r>
          </a:p>
          <a:p>
            <a:pPr lvl="1"/>
            <a:r>
              <a:rPr lang="en-US" sz="2000"/>
              <a:t>Left join train_transaction and train_identity on transactionID</a:t>
            </a:r>
          </a:p>
          <a:p>
            <a:pPr lvl="1"/>
            <a:r>
              <a:rPr lang="en-US" sz="2000"/>
              <a:t>Drop columns with greater than 95% missing values</a:t>
            </a:r>
          </a:p>
          <a:p>
            <a:r>
              <a:rPr lang="en-US" sz="2000"/>
              <a:t>Step 2: Outlier and Zero Transaction Handling</a:t>
            </a:r>
          </a:p>
          <a:p>
            <a:pPr lvl="1"/>
            <a:r>
              <a:rPr lang="en-US" sz="2000"/>
              <a:t>Remove transactions with TransactionAmt == 0</a:t>
            </a:r>
          </a:p>
          <a:p>
            <a:pPr lvl="1"/>
            <a:r>
              <a:rPr lang="en-US" sz="2000"/>
              <a:t>Flag top 1% of transaction amounts</a:t>
            </a:r>
          </a:p>
          <a:p>
            <a:r>
              <a:rPr lang="en-US" sz="2000"/>
              <a:t>Step 3: Missing Value Treatment</a:t>
            </a:r>
          </a:p>
          <a:p>
            <a:pPr lvl="1"/>
            <a:r>
              <a:rPr lang="en-US" sz="2000"/>
              <a:t>Numerical Features</a:t>
            </a:r>
          </a:p>
          <a:p>
            <a:pPr lvl="2"/>
            <a:r>
              <a:rPr lang="en-US" dirty="0"/>
              <a:t>Impute per class using median</a:t>
            </a:r>
          </a:p>
          <a:p>
            <a:pPr lvl="2"/>
            <a:r>
              <a:rPr lang="en-US" dirty="0"/>
              <a:t>Create binary </a:t>
            </a:r>
            <a:r>
              <a:rPr lang="en-US"/>
              <a:t>feature_missing</a:t>
            </a:r>
            <a:r>
              <a:rPr lang="en-US" dirty="0"/>
              <a:t> indicator for columns with less than 20% missing</a:t>
            </a:r>
          </a:p>
          <a:p>
            <a:pPr lvl="1"/>
            <a:r>
              <a:rPr lang="en-US" sz="2000"/>
              <a:t>Categorical Features</a:t>
            </a:r>
          </a:p>
          <a:p>
            <a:pPr lvl="2"/>
            <a:r>
              <a:rPr lang="en-US" dirty="0"/>
              <a:t>If less than 95% missing, impute with “missing”</a:t>
            </a:r>
          </a:p>
        </p:txBody>
      </p:sp>
    </p:spTree>
    <p:extLst>
      <p:ext uri="{BB962C8B-B14F-4D97-AF65-F5344CB8AC3E}">
        <p14:creationId xmlns:p14="http://schemas.microsoft.com/office/powerpoint/2010/main" val="617483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32A48-C4C7-6777-A26E-AEF1F3CCE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Preprocessing Approach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17F3-B87F-F880-7B07-A6B34CE0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900"/>
              <a:t>Step 4: Encoding</a:t>
            </a:r>
          </a:p>
          <a:p>
            <a:pPr lvl="1"/>
            <a:r>
              <a:rPr lang="en-US" sz="1900"/>
              <a:t>Label encoding for high-cardinality categorical features</a:t>
            </a:r>
          </a:p>
          <a:p>
            <a:pPr lvl="1"/>
            <a:r>
              <a:rPr lang="en-US" sz="1900"/>
              <a:t>One-hot encoding for low-cardinality categorical features</a:t>
            </a:r>
          </a:p>
          <a:p>
            <a:r>
              <a:rPr lang="en-US" sz="1900"/>
              <a:t>Step 5: Feature Engineering</a:t>
            </a:r>
          </a:p>
          <a:p>
            <a:pPr lvl="1"/>
            <a:r>
              <a:rPr lang="en-US" sz="1900"/>
              <a:t>Temporal Features</a:t>
            </a:r>
          </a:p>
          <a:p>
            <a:pPr lvl="2"/>
            <a:r>
              <a:rPr lang="en-US" sz="1900"/>
              <a:t>From transactionDT, extract hour, day_of_week, day_of_month, week_of_year. Compute transaction velocity per user: transactions per hour and transactions per day. </a:t>
            </a:r>
          </a:p>
          <a:p>
            <a:pPr lvl="1"/>
            <a:r>
              <a:rPr lang="en-US" sz="1900"/>
              <a:t>User Level Aggregates</a:t>
            </a:r>
          </a:p>
          <a:p>
            <a:pPr lvl="2"/>
            <a:r>
              <a:rPr lang="en-US" sz="1900"/>
              <a:t>For each card1 calculate mean_amt, std_amt, tx_count_7d, amt_std_30d, unique_devices_30d</a:t>
            </a:r>
          </a:p>
          <a:p>
            <a:pPr lvl="1"/>
            <a:r>
              <a:rPr lang="en-US" sz="1900"/>
              <a:t>Transformations</a:t>
            </a:r>
          </a:p>
          <a:p>
            <a:pPr lvl="2"/>
            <a:r>
              <a:rPr lang="en-US" sz="1900"/>
              <a:t>Apply log(TransactionAmt + 1) to reduce skewness</a:t>
            </a:r>
          </a:p>
        </p:txBody>
      </p:sp>
    </p:spTree>
    <p:extLst>
      <p:ext uri="{BB962C8B-B14F-4D97-AF65-F5344CB8AC3E}">
        <p14:creationId xmlns:p14="http://schemas.microsoft.com/office/powerpoint/2010/main" val="846152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87C39-2E9A-0D74-843C-CDE1E3578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Preprocessing Approach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0319-86A9-AA53-29BB-B26ACDBAE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Step 6: Feature Selection</a:t>
            </a:r>
          </a:p>
          <a:p>
            <a:pPr lvl="1"/>
            <a:r>
              <a:rPr lang="en-US" sz="2000"/>
              <a:t>Drop one variable in any pair with Pearson correlation &gt; 0.9</a:t>
            </a:r>
          </a:p>
          <a:p>
            <a:r>
              <a:rPr lang="en-US" sz="2000"/>
              <a:t>Step 7: Handling Class Imbalance</a:t>
            </a:r>
          </a:p>
          <a:p>
            <a:pPr lvl="1"/>
            <a:r>
              <a:rPr lang="en-US" sz="2000"/>
              <a:t>Class imbalance was handled directly in XGBoost using scale_pos_weight</a:t>
            </a:r>
          </a:p>
          <a:p>
            <a:r>
              <a:rPr lang="en-US" sz="2000"/>
              <a:t>Step 8: Output and Documentation</a:t>
            </a:r>
          </a:p>
          <a:p>
            <a:pPr lvl="1"/>
            <a:r>
              <a:rPr lang="en-US" sz="2000"/>
              <a:t>Export cleaned dataset</a:t>
            </a:r>
          </a:p>
        </p:txBody>
      </p:sp>
    </p:spTree>
    <p:extLst>
      <p:ext uri="{BB962C8B-B14F-4D97-AF65-F5344CB8AC3E}">
        <p14:creationId xmlns:p14="http://schemas.microsoft.com/office/powerpoint/2010/main" val="2856691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50C7A-36AB-BC0B-8958-3C07DF3E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 Choice and Key Dataset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4D06-9B68-D531-CEBC-BDE09AAED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Model Choice: XGBoost</a:t>
            </a:r>
          </a:p>
          <a:p>
            <a:pPr lvl="1"/>
            <a:r>
              <a:rPr lang="en-US" sz="2000"/>
              <a:t>We chose XGBoost because it handles structured data efficiently and handles class imbalance effectively</a:t>
            </a:r>
          </a:p>
          <a:p>
            <a:r>
              <a:rPr lang="en-US" sz="2000"/>
              <a:t>Key Dataset Challenges</a:t>
            </a:r>
          </a:p>
          <a:p>
            <a:pPr lvl="1"/>
            <a:r>
              <a:rPr lang="en-US" sz="2000"/>
              <a:t>Extreme class imbalance</a:t>
            </a:r>
          </a:p>
          <a:p>
            <a:pPr lvl="2"/>
            <a:r>
              <a:rPr lang="en-US" dirty="0"/>
              <a:t>Fraud cases less than 3.5% of total transactions</a:t>
            </a:r>
          </a:p>
          <a:p>
            <a:pPr lvl="1"/>
            <a:r>
              <a:rPr lang="en-US" sz="2000"/>
              <a:t>High dimensionality</a:t>
            </a:r>
          </a:p>
          <a:p>
            <a:pPr lvl="2"/>
            <a:r>
              <a:rPr lang="en-US" dirty="0"/>
              <a:t>Hundreds of features</a:t>
            </a:r>
          </a:p>
          <a:p>
            <a:pPr lvl="1"/>
            <a:r>
              <a:rPr lang="en-US" sz="2000"/>
              <a:t>Noisy/Randomized variables</a:t>
            </a:r>
          </a:p>
          <a:p>
            <a:pPr lvl="2"/>
            <a:r>
              <a:rPr lang="en-US" dirty="0"/>
              <a:t>Many features with unclear semantics</a:t>
            </a:r>
          </a:p>
          <a:p>
            <a:pPr lvl="1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15071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9B1DD-E64A-2892-EB19-FDC4931A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Results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CE89-9A67-BA25-AB6D-4712EBDD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Model Performance</a:t>
            </a:r>
          </a:p>
          <a:p>
            <a:pPr lvl="1"/>
            <a:r>
              <a:rPr lang="en-US" sz="2000"/>
              <a:t>Recall: 0.9997</a:t>
            </a:r>
          </a:p>
          <a:p>
            <a:pPr lvl="1"/>
            <a:r>
              <a:rPr lang="en-US" sz="2000"/>
              <a:t>Precision: 1.0000</a:t>
            </a:r>
          </a:p>
          <a:p>
            <a:pPr lvl="1"/>
            <a:r>
              <a:rPr lang="en-US" sz="2000"/>
              <a:t>AUC: 1.0000</a:t>
            </a:r>
          </a:p>
          <a:p>
            <a:pPr lvl="1"/>
            <a:r>
              <a:rPr lang="en-US" sz="2000"/>
              <a:t>Interpretation: The model produced zero false positives and caught 99.97% of all fraud cases</a:t>
            </a:r>
          </a:p>
          <a:p>
            <a:r>
              <a:rPr lang="en-US" sz="2000"/>
              <a:t>Feature Insights</a:t>
            </a:r>
          </a:p>
          <a:p>
            <a:pPr lvl="1"/>
            <a:r>
              <a:rPr lang="en-US" sz="2000"/>
              <a:t>The most influential features from the XGBoost importance matrix were dist1, R_emaildomain, and dist2_missing</a:t>
            </a:r>
          </a:p>
          <a:p>
            <a:r>
              <a:rPr lang="en-US" sz="2000"/>
              <a:t>Technical Observations</a:t>
            </a:r>
          </a:p>
          <a:p>
            <a:pPr lvl="1"/>
            <a:r>
              <a:rPr lang="en-US" sz="2000"/>
              <a:t>Model performance far exceeded the original target (Recall &gt; 85%, Precision &gt; 90%).</a:t>
            </a:r>
          </a:p>
          <a:p>
            <a:pPr lvl="1"/>
            <a:r>
              <a:rPr lang="en-US" sz="2000"/>
              <a:t>Feature selection and preprocessing pipeline likely contributed to the perfect AUC</a:t>
            </a:r>
          </a:p>
        </p:txBody>
      </p:sp>
    </p:spTree>
    <p:extLst>
      <p:ext uri="{BB962C8B-B14F-4D97-AF65-F5344CB8AC3E}">
        <p14:creationId xmlns:p14="http://schemas.microsoft.com/office/powerpoint/2010/main" val="1705967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6C25F-17A7-7CFA-F1F0-1BD7E53B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7B0E7-741F-B410-6819-6A4352DD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Model Improvements</a:t>
            </a:r>
          </a:p>
          <a:p>
            <a:pPr lvl="1"/>
            <a:r>
              <a:rPr lang="en-US" sz="2000"/>
              <a:t>Expand feature selection to reduce noise and improve interpretability</a:t>
            </a:r>
          </a:p>
          <a:p>
            <a:pPr lvl="1"/>
            <a:r>
              <a:rPr lang="en-US" sz="2000"/>
              <a:t>Test alternative models (e.g., LightGBM) for benchmarking</a:t>
            </a:r>
          </a:p>
          <a:p>
            <a:r>
              <a:rPr lang="en-US" sz="2000"/>
              <a:t>Data Enhancements</a:t>
            </a:r>
          </a:p>
          <a:p>
            <a:pPr lvl="1"/>
            <a:r>
              <a:rPr lang="en-US" sz="2000"/>
              <a:t>Incorporate additional behavioral or temporal features</a:t>
            </a:r>
          </a:p>
          <a:p>
            <a:pPr lvl="1"/>
            <a:r>
              <a:rPr lang="en-US" sz="2000"/>
              <a:t>Gather more labeled fraud cases to reduce imbalance</a:t>
            </a:r>
          </a:p>
          <a:p>
            <a:pPr lvl="1"/>
            <a:r>
              <a:rPr lang="en-US" sz="2000"/>
              <a:t>Improve feature documentation to reduce ambiguity in randomized fields</a:t>
            </a:r>
          </a:p>
          <a:p>
            <a:r>
              <a:rPr lang="en-US" sz="2000"/>
              <a:t>Deployment Considerations</a:t>
            </a:r>
          </a:p>
          <a:p>
            <a:pPr lvl="1"/>
            <a:r>
              <a:rPr lang="en-US" sz="2000"/>
              <a:t>Set up a feedback loop with bank employees to capture new fraud patterns</a:t>
            </a:r>
          </a:p>
          <a:p>
            <a:pPr lvl="1"/>
            <a:r>
              <a:rPr lang="en-US" sz="2000"/>
              <a:t>Evaluate model performance in a live environment before full rollout</a:t>
            </a:r>
          </a:p>
          <a:p>
            <a:pPr lvl="1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91634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37377-D87B-E0F6-D33A-E0C8A0A35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39F43-2E67-EED0-247E-192FD84B7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Key Takeaways</a:t>
            </a:r>
          </a:p>
          <a:p>
            <a:pPr lvl="1"/>
            <a:r>
              <a:rPr lang="en-US" sz="2000"/>
              <a:t>Built a high-performing fraud detection model with near-perfect accuracy</a:t>
            </a:r>
          </a:p>
          <a:p>
            <a:pPr lvl="1"/>
            <a:r>
              <a:rPr lang="en-US" sz="2000"/>
              <a:t>Achieved zero false positives and 99.97% fraud detection</a:t>
            </a:r>
          </a:p>
          <a:p>
            <a:pPr lvl="1"/>
            <a:r>
              <a:rPr lang="en-US" sz="2000"/>
              <a:t>Significantly reduces alert volume and improves operational efficiency</a:t>
            </a:r>
          </a:p>
          <a:p>
            <a:r>
              <a:rPr lang="en-US" sz="2000"/>
              <a:t>Final Note</a:t>
            </a:r>
          </a:p>
          <a:p>
            <a:pPr lvl="1"/>
            <a:r>
              <a:rPr lang="en-US" sz="2000"/>
              <a:t>Our model demonstrates that with the right preprocessing pipeline and algorithm choice, accurate, low-friction fraud detection is achievable and ready for deployment.</a:t>
            </a:r>
          </a:p>
        </p:txBody>
      </p:sp>
    </p:spTree>
    <p:extLst>
      <p:ext uri="{BB962C8B-B14F-4D97-AF65-F5344CB8AC3E}">
        <p14:creationId xmlns:p14="http://schemas.microsoft.com/office/powerpoint/2010/main" val="45630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40ECAC4AE0D54DBE2827C7FB641529" ma:contentTypeVersion="8" ma:contentTypeDescription="Create a new document." ma:contentTypeScope="" ma:versionID="5ad6086198a12b3483d512de289a678b">
  <xsd:schema xmlns:xsd="http://www.w3.org/2001/XMLSchema" xmlns:xs="http://www.w3.org/2001/XMLSchema" xmlns:p="http://schemas.microsoft.com/office/2006/metadata/properties" xmlns:ns3="09f8f65d-d73f-4741-b37a-038b149b6141" targetNamespace="http://schemas.microsoft.com/office/2006/metadata/properties" ma:root="true" ma:fieldsID="fab6e381ff67961196a7a20eb5c045a6" ns3:_="">
    <xsd:import namespace="09f8f65d-d73f-4741-b37a-038b149b61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8f65d-d73f-4741-b37a-038b149b61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9f8f65d-d73f-4741-b37a-038b149b6141" xsi:nil="true"/>
  </documentManagement>
</p:properties>
</file>

<file path=customXml/itemProps1.xml><?xml version="1.0" encoding="utf-8"?>
<ds:datastoreItem xmlns:ds="http://schemas.openxmlformats.org/officeDocument/2006/customXml" ds:itemID="{0E3F7D09-8F74-4BA0-BA0F-F16732CBDF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f8f65d-d73f-4741-b37a-038b149b61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AD16B6-3926-4310-9512-7F07B31186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8FF2C9-8CF0-4253-A4D7-B8C2B6693B1C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09f8f65d-d73f-4741-b37a-038b149b614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</TotalTime>
  <Words>1552</Words>
  <Application>Microsoft Office PowerPoint</Application>
  <PresentationFormat>Widescreen</PresentationFormat>
  <Paragraphs>187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Credit Card Fraud Detection</vt:lpstr>
      <vt:lpstr>Addressing the Project Sponsor</vt:lpstr>
      <vt:lpstr>Motivation and Business Need</vt:lpstr>
      <vt:lpstr>Project Goal</vt:lpstr>
      <vt:lpstr>Key Results</vt:lpstr>
      <vt:lpstr>Project Workflow Overview</vt:lpstr>
      <vt:lpstr>Business Impact</vt:lpstr>
      <vt:lpstr>Model Effectiveness</vt:lpstr>
      <vt:lpstr>Modeling Method Overview</vt:lpstr>
      <vt:lpstr>Recommendation and Future Work</vt:lpstr>
      <vt:lpstr>Addressing the End User</vt:lpstr>
      <vt:lpstr>Why This Model Matters to You</vt:lpstr>
      <vt:lpstr>Model in Day-to-Day Work</vt:lpstr>
      <vt:lpstr>What the Model Catches – And What It Ignores</vt:lpstr>
      <vt:lpstr>How You Interact With the Model</vt:lpstr>
      <vt:lpstr>Your Role in Improving the Model</vt:lpstr>
      <vt:lpstr>Addressing Other Data Scientists</vt:lpstr>
      <vt:lpstr>Problem Overview</vt:lpstr>
      <vt:lpstr>Previous Approaches in Fraud Detection</vt:lpstr>
      <vt:lpstr>Data Preprocessing Approach</vt:lpstr>
      <vt:lpstr>Data Preprocessing Approach (continued)</vt:lpstr>
      <vt:lpstr>Data Preprocessing Approach (continued)</vt:lpstr>
      <vt:lpstr>Model Choice and Key Dataset Challenges</vt:lpstr>
      <vt:lpstr>Results and Findings</vt:lpstr>
      <vt:lpstr>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Drummond</dc:creator>
  <cp:lastModifiedBy>Dan Caverly</cp:lastModifiedBy>
  <cp:revision>9</cp:revision>
  <dcterms:created xsi:type="dcterms:W3CDTF">2025-11-29T05:07:28Z</dcterms:created>
  <dcterms:modified xsi:type="dcterms:W3CDTF">2025-12-01T22:58:20Z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0x010100E040ECAC4AE0D54DBE2827C7FB641529</vt:lpwstr>
  </property>
</Properties>
</file>